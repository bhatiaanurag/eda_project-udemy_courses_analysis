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2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387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7315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B6CA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6A0DAD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5029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6A0DA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EDA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Udemy Courses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B4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384048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06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insights in online learning trends,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strategies, and course performance metrics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1920240" cy="777240"/>
          </a:xfrm>
          <a:prstGeom prst="rect">
            <a:avLst/>
          </a:prstGeom>
          <a:solidFill>
            <a:srgbClr val="1B6CA8">
              <a:alpha val="1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877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3,678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Analyzed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87752" y="3840480"/>
            <a:ext cx="1920240" cy="777240"/>
          </a:xfrm>
          <a:prstGeom prst="rect">
            <a:avLst/>
          </a:prstGeom>
          <a:solidFill>
            <a:srgbClr val="1B6CA8">
              <a:alpha val="1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87752" y="3877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87752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Covered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2584" y="3840480"/>
            <a:ext cx="1920240" cy="777240"/>
          </a:xfrm>
          <a:prstGeom prst="rect">
            <a:avLst/>
          </a:prstGeom>
          <a:solidFill>
            <a:srgbClr val="1B6CA8">
              <a:alpha val="1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3877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72584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57416" y="3840480"/>
            <a:ext cx="1920240" cy="777240"/>
          </a:xfrm>
          <a:prstGeom prst="rect">
            <a:avLst/>
          </a:prstGeom>
          <a:solidFill>
            <a:srgbClr val="1B6CA8">
              <a:alpha val="1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57416" y="3877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2012–2017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57416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TABLE OF 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75488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description, objectives &amp; problem statement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75488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1440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21808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shape, columns, datatypes &amp; structure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87452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874520"/>
            <a:ext cx="475488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8745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192938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2221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values, type conversions &amp; redundant columns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7452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74520"/>
            <a:ext cx="475488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8745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192938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2221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Paid, subject distribution, course levels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34640"/>
            <a:ext cx="475488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83464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28895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" y="31821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subscribers, revenue &amp; lecture count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34640"/>
            <a:ext cx="475488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83464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28895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1821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subscriber and pricing trends by subject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79476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794760"/>
            <a:ext cx="475488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79476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6968" y="38496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6968" y="4142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numeric features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79476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794760"/>
            <a:ext cx="475488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79476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21808" y="38496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21808" y="4142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from the EDA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A0DA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B6CA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497D6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this project about?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27432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463040"/>
            <a:ext cx="4114800" cy="13716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73152" cy="13716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Udemy courses to uncover insights on performance, user preferences, and market trends in e-learning.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114800" cy="13716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463040"/>
            <a:ext cx="73152" cy="13716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4" name="Text 12"/>
          <p:cNvSpPr/>
          <p:nvPr/>
        </p:nvSpPr>
        <p:spPr>
          <a:xfrm>
            <a:off x="4965192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65192" y="1920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3,678 courses across 4 subjects with 13 attributes including price, subscribers, reviews &amp; content duration.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4114800" cy="13716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63240"/>
            <a:ext cx="73152" cy="13716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6072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EDA: data understanding → cleaning → univariate → bivariate → temporal → correlation analysis.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4114800" cy="13716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63240"/>
            <a:ext cx="73152" cy="13716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65192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actionable insights to help instructors &amp; platforms optimize course offerings and strategy.</a:t>
            </a:r>
            <a:endParaRPr lang="en-US" sz="11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DATASET DESCRIPTION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416966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course_id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int64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Unique identifier for each course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course_title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object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Title of the course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is_paid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bool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Indicates paid or free course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price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int64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Price of the course in USD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num_subscribers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int64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 number of students enrolled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num_reviews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int64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Number of reviews received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num_lectures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int64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 number of lectures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course_level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Difficulty level (Beginner / Intermediate / Expert)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content_duration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float64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Duration of course content in hours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datetime64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Date when course was published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A0DAD"/>
                          </a:solidFill>
                        </a:rPr>
                        <a:t>subject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6CA8"/>
                          </a:solidFill>
                        </a:rPr>
                        <a:t>object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Category / subject of the course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320040" y="4480560"/>
            <a:ext cx="2651760" cy="502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3,678  •  Total Records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4480560"/>
            <a:ext cx="2651760" cy="502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  •  Columns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4480560"/>
            <a:ext cx="2651760" cy="502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  •  Null Values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97D6"/>
                </a:solidFill>
              </a:rPr>
              <a:t>STEP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Null Value Check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399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13 columns — zero null values found across all 3,678 rows. Dataset is complete and requires no imputation.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" y="228600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B497D6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A0DAD"/>
                </a:solidFill>
              </a:rPr>
              <a:t>✅ No Missing Values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1148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868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97D6"/>
                </a:solidFill>
              </a:rPr>
              <a:t>STEP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868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Type Conversion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399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'Date' column from object → datetime64 for temporal analysis. Converted 'course_level' from object → category for memory efficiency.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73752" y="228600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B497D6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A0DAD"/>
                </a:solidFill>
              </a:rPr>
              <a:t>🔄 2 Columns Converted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41148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97D6"/>
                </a:solidFill>
              </a:rPr>
              <a:t>STEP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Redundant Column Removal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33649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3 non-analytical columns: course_id, course_title, and url. These don't contribute to statistical analysis.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" y="425196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B497D6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A0DAD"/>
                </a:solidFill>
              </a:rPr>
              <a:t>🗑️ 3 Columns Dropped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34640"/>
            <a:ext cx="41148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97D6"/>
                </a:solidFill>
              </a:rPr>
              <a:t>STEP 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 Dataset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33649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3,678 rows × 10 columns, with proper datatypes and zero missing data — ready for analysis.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73752" y="425196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B497D6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A0DAD"/>
                </a:solidFill>
              </a:rPr>
              <a:t>🎯 10 Columns Retained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497D6"/>
                </a:solidFill>
              </a:rPr>
              <a:t>UNIVARIATE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vs Paid Courses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286000" cy="36576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6" name="Shape 4"/>
          <p:cNvSpPr/>
          <p:nvPr/>
        </p:nvSpPr>
        <p:spPr>
          <a:xfrm>
            <a:off x="480060" y="1806337"/>
            <a:ext cx="2377440" cy="2377440"/>
          </a:xfrm>
          <a:prstGeom prst="ellipse">
            <a:avLst/>
          </a:prstGeom>
          <a:solidFill>
            <a:srgbClr val="6A0DAD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" y="2253081"/>
            <a:ext cx="1474013" cy="1474013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011936" y="26791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8233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97D6"/>
                </a:solidFill>
              </a:rPr>
              <a:t>Paid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" y="1837868"/>
            <a:ext cx="2377440" cy="2377440"/>
          </a:xfrm>
          <a:prstGeom prst="ellipse">
            <a:avLst/>
          </a:prstGeom>
          <a:solidFill>
            <a:srgbClr val="000000">
              <a:alpha val="0"/>
            </a:srgbClr>
          </a:solidFill>
          <a:ln w="1270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657600" y="1463040"/>
            <a:ext cx="5029200" cy="118872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463040"/>
            <a:ext cx="73152" cy="1188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1572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91.6%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86200" y="20574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Courses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2060"/>
                </a:solidFill>
              </a:rPr>
              <a:t>~3,372 courses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0" y="2880360"/>
            <a:ext cx="5029200" cy="118872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2880360"/>
            <a:ext cx="73152" cy="11887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8" name="Text 16"/>
          <p:cNvSpPr/>
          <p:nvPr/>
        </p:nvSpPr>
        <p:spPr>
          <a:xfrm>
            <a:off x="3886200" y="29900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8.4%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86200" y="3474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Courses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2060"/>
                </a:solidFill>
              </a:rPr>
              <a:t>~306 courses</a:t>
            </a:r>
          </a:p>
        </p:txBody>
      </p:sp>
      <p:sp>
        <p:nvSpPr>
          <p:cNvPr id="21" name="Text 19"/>
          <p:cNvSpPr/>
          <p:nvPr/>
        </p:nvSpPr>
        <p:spPr>
          <a:xfrm>
            <a:off x="3657600" y="4160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Paid courses dominate the Udemy platform, making up over 90% of all available content. Free courses are rare and primarily used as lead-generation tools.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SUBJECT ANALYSIS  —  Subscribers &amp; Revenue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8778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Subscribers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57400" y="1289304"/>
            <a:ext cx="3200400" cy="18288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1289304"/>
            <a:ext cx="3200400" cy="18288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12618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0DAD"/>
                </a:solidFill>
              </a:rPr>
              <a:t>7.8M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8778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Revenue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23760" y="896112"/>
            <a:ext cx="640080" cy="5943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896112"/>
            <a:ext cx="640080" cy="59436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11247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0DAD"/>
                </a:solidFill>
              </a:rPr>
              <a:t>$295K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Finance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3042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Subscribers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57400" y="2313432"/>
            <a:ext cx="3200400" cy="18288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2313432"/>
            <a:ext cx="1189892" cy="1828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A8"/>
                </a:solidFill>
              </a:rPr>
              <a:t>2.9M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901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Revenue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23760" y="1920240"/>
            <a:ext cx="640080" cy="5943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1950462"/>
            <a:ext cx="640080" cy="56413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2148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A8"/>
                </a:solidFill>
              </a:rPr>
              <a:t>$280K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852928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🎸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Instruments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3284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Subscribers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57400" y="3337560"/>
            <a:ext cx="3200400" cy="18288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1" name="Shape 29"/>
          <p:cNvSpPr/>
          <p:nvPr/>
        </p:nvSpPr>
        <p:spPr>
          <a:xfrm>
            <a:off x="2057400" y="3337560"/>
            <a:ext cx="861646" cy="1828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33101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</a:rPr>
              <a:t>2.1M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Revenue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23760" y="2944368"/>
            <a:ext cx="640080" cy="5943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5" name="Shape 33"/>
          <p:cNvSpPr/>
          <p:nvPr/>
        </p:nvSpPr>
        <p:spPr>
          <a:xfrm>
            <a:off x="7223760" y="3327176"/>
            <a:ext cx="640080" cy="2115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3172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</a:rPr>
              <a:t>$105K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877056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148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60120" y="39502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43525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Subscribers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57400" y="4361688"/>
            <a:ext cx="3200400" cy="18288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42" name="Shape 40"/>
          <p:cNvSpPr/>
          <p:nvPr/>
        </p:nvSpPr>
        <p:spPr>
          <a:xfrm>
            <a:off x="2057400" y="4361688"/>
            <a:ext cx="656492" cy="1828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43342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BC9C"/>
                </a:solidFill>
              </a:rPr>
              <a:t>1.6M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3950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Revenue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223760" y="3968496"/>
            <a:ext cx="640080" cy="5943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46" name="Shape 44"/>
          <p:cNvSpPr/>
          <p:nvPr/>
        </p:nvSpPr>
        <p:spPr>
          <a:xfrm>
            <a:off x="7223760" y="4300935"/>
            <a:ext cx="640080" cy="261921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7" name="Text 45"/>
          <p:cNvSpPr/>
          <p:nvPr/>
        </p:nvSpPr>
        <p:spPr>
          <a:xfrm>
            <a:off x="7909560" y="41970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BC9C"/>
                </a:solidFill>
              </a:rPr>
              <a:t>$130K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A0DAD"/>
                </a:solidFill>
              </a:rPr>
              <a:t>★ Web Development leads in both subscribers and revenue, while Business Finance ranks 2nd in both metrics.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1B6CA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497D6"/>
                </a:solidFill>
              </a:rPr>
              <a:t>COURSE LEVEL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by Difficulty Level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2860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691640"/>
            <a:ext cx="548640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91640"/>
            <a:ext cx="2907792" cy="29260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All Levels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16916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0DAD"/>
                </a:solidFill>
              </a:rPr>
              <a:t>53%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1691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5BC"/>
                </a:solidFill>
              </a:rPr>
              <a:t>1,949 courses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532888"/>
            <a:ext cx="548640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532888"/>
            <a:ext cx="1755648" cy="29260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58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Beginner Level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5328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CA8"/>
                </a:solidFill>
              </a:rPr>
              <a:t>32%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532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5BC"/>
                </a:solidFill>
              </a:rPr>
              <a:t>1,177 courses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374136"/>
            <a:ext cx="548640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374136"/>
            <a:ext cx="658368" cy="29260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099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Intermediate Level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337413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59B6"/>
                </a:solidFill>
              </a:rPr>
              <a:t>12%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3741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5BC"/>
                </a:solidFill>
              </a:rPr>
              <a:t>441 courses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215384"/>
            <a:ext cx="548640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215384"/>
            <a:ext cx="164592" cy="29260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410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Expert Level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42153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BC9C"/>
                </a:solidFill>
              </a:rPr>
              <a:t>3%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4215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5BC"/>
                </a:solidFill>
              </a:rPr>
              <a:t>111 courses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solidFill>
            <a:srgbClr val="6A0DAD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"All Levels" is the most common category (53%), reflecting instructors' desire to maximize reach. Beginner content is the next biggest draw at 32%.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BIVARIATE ANALYSIS  —  Lectures &amp; Subscribers by Subject + Level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0DAD"/>
                </a:solidFill>
              </a:rPr>
              <a:t>No. of Lectures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No. of Subscribers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Web Dev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0" y="1170432"/>
            <a:ext cx="2743200" cy="256032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170432"/>
            <a:ext cx="2743200" cy="256032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1704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0DAD"/>
                </a:solidFill>
              </a:rPr>
              <a:t>48.5K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0" y="1170432"/>
            <a:ext cx="2743200" cy="256032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1" name="Shape 9"/>
          <p:cNvSpPr/>
          <p:nvPr/>
        </p:nvSpPr>
        <p:spPr>
          <a:xfrm>
            <a:off x="5394960" y="1170432"/>
            <a:ext cx="2743200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117043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A8"/>
                </a:solidFill>
              </a:rPr>
              <a:t>3.9M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19293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Biz Finance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0" y="1956816"/>
            <a:ext cx="2743200" cy="256032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5" name="Shape 13"/>
          <p:cNvSpPr/>
          <p:nvPr/>
        </p:nvSpPr>
        <p:spPr>
          <a:xfrm>
            <a:off x="2011680" y="1956816"/>
            <a:ext cx="1764698" cy="256032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9568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0DAD"/>
                </a:solidFill>
              </a:rPr>
              <a:t>31.2K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4960" y="1956816"/>
            <a:ext cx="2743200" cy="256032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1956816"/>
            <a:ext cx="1033153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195681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A8"/>
                </a:solidFill>
              </a:rPr>
              <a:t>1.4M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2715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Graphic 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2743200" cy="256032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2743200"/>
            <a:ext cx="1057687" cy="256032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432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0DAD"/>
                </a:solidFill>
              </a:rPr>
              <a:t>18.7K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94960" y="2743200"/>
            <a:ext cx="2743200" cy="256032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4960" y="2743200"/>
            <a:ext cx="570016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27432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A8"/>
                </a:solidFill>
              </a:rPr>
              <a:t>0.8M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3502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Music Inst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11680" y="3529584"/>
            <a:ext cx="2743200" cy="256032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9" name="Shape 27"/>
          <p:cNvSpPr/>
          <p:nvPr/>
        </p:nvSpPr>
        <p:spPr>
          <a:xfrm>
            <a:off x="2011680" y="3529584"/>
            <a:ext cx="526016" cy="256032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5295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0DAD"/>
                </a:solidFill>
              </a:rPr>
              <a:t>9.3K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0" y="3529584"/>
            <a:ext cx="2743200" cy="256032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2" name="Shape 30"/>
          <p:cNvSpPr/>
          <p:nvPr/>
        </p:nvSpPr>
        <p:spPr>
          <a:xfrm>
            <a:off x="5394960" y="3529584"/>
            <a:ext cx="748145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35295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A8"/>
                </a:solidFill>
              </a:rPr>
              <a:t>1.1M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4203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Findings: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447751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Web Development dominates both lecture count &amp; subscriber numbers.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Musical Instruments has fewer lectures but relatively high subscribers — niche but popular.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Business Finance: high courses &amp; revenue but fewer total subscribers than Web Dev.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CORRELATION ANALYSIS  —  Numeric Feature Relationships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Price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0" y="502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Subscribers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926080" y="502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Reviews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66160" y="502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Lectures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06240" y="502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Duration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46320" y="502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Year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" y="822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93B"/>
                </a:solidFill>
              </a:rPr>
              <a:t>Price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" y="1463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93B"/>
                </a:solidFill>
              </a:rPr>
              <a:t>Subscribers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93B"/>
                </a:solidFill>
              </a:rPr>
              <a:t>Reviews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" y="2743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93B"/>
                </a:solidFill>
              </a:rPr>
              <a:t>Lectures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93B"/>
                </a:solidFill>
              </a:rPr>
              <a:t>Duration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" y="4023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93B"/>
                </a:solidFill>
              </a:rPr>
              <a:t>Year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45920" y="822960"/>
            <a:ext cx="612648" cy="61264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8229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822960"/>
            <a:ext cx="612648" cy="612648"/>
          </a:xfrm>
          <a:prstGeom prst="rect">
            <a:avLst/>
          </a:prstGeom>
          <a:solidFill>
            <a:srgbClr val="FEFDFE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8229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0" y="822960"/>
            <a:ext cx="612648" cy="612648"/>
          </a:xfrm>
          <a:prstGeom prst="rect">
            <a:avLst/>
          </a:prstGeom>
          <a:solidFill>
            <a:srgbClr val="FCFAFD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8229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66160" y="822960"/>
            <a:ext cx="612648" cy="612648"/>
          </a:xfrm>
          <a:prstGeom prst="rect">
            <a:avLst/>
          </a:prstGeom>
          <a:solidFill>
            <a:srgbClr val="F0E7F7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8229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822960"/>
            <a:ext cx="612648" cy="612648"/>
          </a:xfrm>
          <a:prstGeom prst="rect">
            <a:avLst/>
          </a:prstGeom>
          <a:solidFill>
            <a:srgbClr val="F2E9F8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8229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612648" cy="612648"/>
          </a:xfrm>
          <a:prstGeom prst="rect">
            <a:avLst/>
          </a:prstGeom>
          <a:solidFill>
            <a:srgbClr val="F8F3F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8229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-0.05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1463040"/>
            <a:ext cx="612648" cy="612648"/>
          </a:xfrm>
          <a:prstGeom prst="rect">
            <a:avLst/>
          </a:prstGeom>
          <a:solidFill>
            <a:srgbClr val="FEFDFE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0" y="146304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0" y="1463040"/>
            <a:ext cx="612648" cy="61264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146304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0" y="1463040"/>
            <a:ext cx="612648" cy="612648"/>
          </a:xfrm>
          <a:prstGeom prst="rect">
            <a:avLst/>
          </a:prstGeom>
          <a:solidFill>
            <a:srgbClr val="7F2FB8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0" y="146304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0.86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1463040"/>
            <a:ext cx="612648" cy="612648"/>
          </a:xfrm>
          <a:prstGeom prst="rect">
            <a:avLst/>
          </a:prstGeom>
          <a:solidFill>
            <a:srgbClr val="EFE4F6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146304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06240" y="1463040"/>
            <a:ext cx="612648" cy="612648"/>
          </a:xfrm>
          <a:prstGeom prst="rect">
            <a:avLst/>
          </a:prstGeom>
          <a:solidFill>
            <a:srgbClr val="EDE2F5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0" y="146304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1463040"/>
            <a:ext cx="612648" cy="612648"/>
          </a:xfrm>
          <a:prstGeom prst="rect">
            <a:avLst/>
          </a:prstGeom>
          <a:solidFill>
            <a:srgbClr val="FCFAFD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146304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45920" y="2103120"/>
            <a:ext cx="612648" cy="612648"/>
          </a:xfrm>
          <a:prstGeom prst="rect">
            <a:avLst/>
          </a:prstGeom>
          <a:solidFill>
            <a:srgbClr val="FCFAFD"/>
          </a:solidFill>
          <a:ln/>
        </p:spPr>
      </p:sp>
      <p:sp>
        <p:nvSpPr>
          <p:cNvPr id="41" name="Text 39"/>
          <p:cNvSpPr/>
          <p:nvPr/>
        </p:nvSpPr>
        <p:spPr>
          <a:xfrm>
            <a:off x="1645920" y="210312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0" y="2103120"/>
            <a:ext cx="612648" cy="612648"/>
          </a:xfrm>
          <a:prstGeom prst="rect">
            <a:avLst/>
          </a:prstGeom>
          <a:solidFill>
            <a:srgbClr val="7F2FB8"/>
          </a:solidFill>
          <a:ln/>
        </p:spPr>
      </p:sp>
      <p:sp>
        <p:nvSpPr>
          <p:cNvPr id="43" name="Text 41"/>
          <p:cNvSpPr/>
          <p:nvPr/>
        </p:nvSpPr>
        <p:spPr>
          <a:xfrm>
            <a:off x="2286000" y="210312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0.86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926080" y="2103120"/>
            <a:ext cx="612648" cy="61264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5" name="Text 43"/>
          <p:cNvSpPr/>
          <p:nvPr/>
        </p:nvSpPr>
        <p:spPr>
          <a:xfrm>
            <a:off x="2926080" y="210312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566160" y="2103120"/>
            <a:ext cx="612648" cy="612648"/>
          </a:xfrm>
          <a:prstGeom prst="rect">
            <a:avLst/>
          </a:prstGeom>
          <a:solidFill>
            <a:srgbClr val="F2E9F8"/>
          </a:solidFill>
          <a:ln/>
        </p:spPr>
      </p:sp>
      <p:sp>
        <p:nvSpPr>
          <p:cNvPr id="47" name="Text 45"/>
          <p:cNvSpPr/>
          <p:nvPr/>
        </p:nvSpPr>
        <p:spPr>
          <a:xfrm>
            <a:off x="3566160" y="210312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2103120"/>
            <a:ext cx="612648" cy="612648"/>
          </a:xfrm>
          <a:prstGeom prst="rect">
            <a:avLst/>
          </a:prstGeom>
          <a:solidFill>
            <a:srgbClr val="F0E7F7"/>
          </a:solidFill>
          <a:ln/>
        </p:spPr>
      </p:sp>
      <p:sp>
        <p:nvSpPr>
          <p:cNvPr id="49" name="Text 47"/>
          <p:cNvSpPr/>
          <p:nvPr/>
        </p:nvSpPr>
        <p:spPr>
          <a:xfrm>
            <a:off x="4206240" y="210312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2103120"/>
            <a:ext cx="612648" cy="612648"/>
          </a:xfrm>
          <a:prstGeom prst="rect">
            <a:avLst/>
          </a:prstGeom>
          <a:solidFill>
            <a:srgbClr val="F9F5FC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210312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645920" y="2743200"/>
            <a:ext cx="612648" cy="612648"/>
          </a:xfrm>
          <a:prstGeom prst="rect">
            <a:avLst/>
          </a:prstGeom>
          <a:solidFill>
            <a:srgbClr val="F0E7F7"/>
          </a:solidFill>
          <a:ln/>
        </p:spPr>
      </p:sp>
      <p:sp>
        <p:nvSpPr>
          <p:cNvPr id="53" name="Text 51"/>
          <p:cNvSpPr/>
          <p:nvPr/>
        </p:nvSpPr>
        <p:spPr>
          <a:xfrm>
            <a:off x="1645920" y="274320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0" y="2743200"/>
            <a:ext cx="612648" cy="612648"/>
          </a:xfrm>
          <a:prstGeom prst="rect">
            <a:avLst/>
          </a:prstGeom>
          <a:solidFill>
            <a:srgbClr val="EFE4F6"/>
          </a:solidFill>
          <a:ln/>
        </p:spPr>
      </p:sp>
      <p:sp>
        <p:nvSpPr>
          <p:cNvPr id="55" name="Text 53"/>
          <p:cNvSpPr/>
          <p:nvPr/>
        </p:nvSpPr>
        <p:spPr>
          <a:xfrm>
            <a:off x="2286000" y="274320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926080" y="2743200"/>
            <a:ext cx="612648" cy="612648"/>
          </a:xfrm>
          <a:prstGeom prst="rect">
            <a:avLst/>
          </a:prstGeom>
          <a:solidFill>
            <a:srgbClr val="F2E9F8"/>
          </a:solidFill>
          <a:ln/>
        </p:spPr>
      </p:sp>
      <p:sp>
        <p:nvSpPr>
          <p:cNvPr id="57" name="Text 55"/>
          <p:cNvSpPr/>
          <p:nvPr/>
        </p:nvSpPr>
        <p:spPr>
          <a:xfrm>
            <a:off x="2926080" y="274320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0.09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566160" y="2743200"/>
            <a:ext cx="612648" cy="61264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59" name="Text 57"/>
          <p:cNvSpPr/>
          <p:nvPr/>
        </p:nvSpPr>
        <p:spPr>
          <a:xfrm>
            <a:off x="3566160" y="274320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06240" y="2743200"/>
            <a:ext cx="612648" cy="612648"/>
          </a:xfrm>
          <a:prstGeom prst="rect">
            <a:avLst/>
          </a:prstGeom>
          <a:solidFill>
            <a:srgbClr val="A064CB"/>
          </a:solidFill>
          <a:ln/>
        </p:spPr>
      </p:sp>
      <p:sp>
        <p:nvSpPr>
          <p:cNvPr id="61" name="Text 59"/>
          <p:cNvSpPr/>
          <p:nvPr/>
        </p:nvSpPr>
        <p:spPr>
          <a:xfrm>
            <a:off x="4206240" y="274320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0.64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46320" y="2743200"/>
            <a:ext cx="612648" cy="612648"/>
          </a:xfrm>
          <a:prstGeom prst="rect">
            <a:avLst/>
          </a:prstGeom>
          <a:solidFill>
            <a:srgbClr val="F5EEF9"/>
          </a:solidFill>
          <a:ln/>
        </p:spPr>
      </p:sp>
      <p:sp>
        <p:nvSpPr>
          <p:cNvPr id="63" name="Text 61"/>
          <p:cNvSpPr/>
          <p:nvPr/>
        </p:nvSpPr>
        <p:spPr>
          <a:xfrm>
            <a:off x="4846320" y="274320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0.07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645920" y="3383280"/>
            <a:ext cx="612648" cy="612648"/>
          </a:xfrm>
          <a:prstGeom prst="rect">
            <a:avLst/>
          </a:prstGeom>
          <a:solidFill>
            <a:srgbClr val="F2E9F8"/>
          </a:solidFill>
          <a:ln/>
        </p:spPr>
      </p:sp>
      <p:sp>
        <p:nvSpPr>
          <p:cNvPr id="65" name="Text 63"/>
          <p:cNvSpPr/>
          <p:nvPr/>
        </p:nvSpPr>
        <p:spPr>
          <a:xfrm>
            <a:off x="1645920" y="338328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0.09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286000" y="3383280"/>
            <a:ext cx="612648" cy="612648"/>
          </a:xfrm>
          <a:prstGeom prst="rect">
            <a:avLst/>
          </a:prstGeom>
          <a:solidFill>
            <a:srgbClr val="EDE2F5"/>
          </a:solidFill>
          <a:ln/>
        </p:spPr>
      </p:sp>
      <p:sp>
        <p:nvSpPr>
          <p:cNvPr id="67" name="Text 65"/>
          <p:cNvSpPr/>
          <p:nvPr/>
        </p:nvSpPr>
        <p:spPr>
          <a:xfrm>
            <a:off x="2286000" y="338328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926080" y="3383280"/>
            <a:ext cx="612648" cy="612648"/>
          </a:xfrm>
          <a:prstGeom prst="rect">
            <a:avLst/>
          </a:prstGeom>
          <a:solidFill>
            <a:srgbClr val="F0E7F7"/>
          </a:solidFill>
          <a:ln/>
        </p:spPr>
      </p:sp>
      <p:sp>
        <p:nvSpPr>
          <p:cNvPr id="69" name="Text 67"/>
          <p:cNvSpPr/>
          <p:nvPr/>
        </p:nvSpPr>
        <p:spPr>
          <a:xfrm>
            <a:off x="2926080" y="338328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566160" y="3383280"/>
            <a:ext cx="612648" cy="612648"/>
          </a:xfrm>
          <a:prstGeom prst="rect">
            <a:avLst/>
          </a:prstGeom>
          <a:solidFill>
            <a:srgbClr val="A064CB"/>
          </a:solidFill>
          <a:ln/>
        </p:spPr>
      </p:sp>
      <p:sp>
        <p:nvSpPr>
          <p:cNvPr id="71" name="Text 69"/>
          <p:cNvSpPr/>
          <p:nvPr/>
        </p:nvSpPr>
        <p:spPr>
          <a:xfrm>
            <a:off x="3566160" y="338328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0.64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206240" y="3383280"/>
            <a:ext cx="612648" cy="61264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73" name="Text 71"/>
          <p:cNvSpPr/>
          <p:nvPr/>
        </p:nvSpPr>
        <p:spPr>
          <a:xfrm>
            <a:off x="4206240" y="338328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46320" y="3383280"/>
            <a:ext cx="612648" cy="612648"/>
          </a:xfrm>
          <a:prstGeom prst="rect">
            <a:avLst/>
          </a:prstGeom>
          <a:solidFill>
            <a:srgbClr val="FEFDFE"/>
          </a:solidFill>
          <a:ln/>
        </p:spPr>
      </p:sp>
      <p:sp>
        <p:nvSpPr>
          <p:cNvPr id="75" name="Text 73"/>
          <p:cNvSpPr/>
          <p:nvPr/>
        </p:nvSpPr>
        <p:spPr>
          <a:xfrm>
            <a:off x="4846320" y="338328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645920" y="4023360"/>
            <a:ext cx="612648" cy="612648"/>
          </a:xfrm>
          <a:prstGeom prst="rect">
            <a:avLst/>
          </a:prstGeom>
          <a:solidFill>
            <a:srgbClr val="F8F3FB"/>
          </a:solidFill>
          <a:ln/>
        </p:spPr>
      </p:sp>
      <p:sp>
        <p:nvSpPr>
          <p:cNvPr id="77" name="Text 75"/>
          <p:cNvSpPr/>
          <p:nvPr/>
        </p:nvSpPr>
        <p:spPr>
          <a:xfrm>
            <a:off x="1645920" y="40233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-0.05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286000" y="4023360"/>
            <a:ext cx="612648" cy="612648"/>
          </a:xfrm>
          <a:prstGeom prst="rect">
            <a:avLst/>
          </a:prstGeom>
          <a:solidFill>
            <a:srgbClr val="FCFAFD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0" y="40233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926080" y="4023360"/>
            <a:ext cx="612648" cy="612648"/>
          </a:xfrm>
          <a:prstGeom prst="rect">
            <a:avLst/>
          </a:prstGeom>
          <a:solidFill>
            <a:srgbClr val="F9F5FC"/>
          </a:solidFill>
          <a:ln/>
        </p:spPr>
      </p:sp>
      <p:sp>
        <p:nvSpPr>
          <p:cNvPr id="81" name="Text 79"/>
          <p:cNvSpPr/>
          <p:nvPr/>
        </p:nvSpPr>
        <p:spPr>
          <a:xfrm>
            <a:off x="2926080" y="40233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0.04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566160" y="4023360"/>
            <a:ext cx="612648" cy="612648"/>
          </a:xfrm>
          <a:prstGeom prst="rect">
            <a:avLst/>
          </a:prstGeom>
          <a:solidFill>
            <a:srgbClr val="F5EEF9"/>
          </a:solidFill>
          <a:ln/>
        </p:spPr>
      </p:sp>
      <p:sp>
        <p:nvSpPr>
          <p:cNvPr id="83" name="Text 81"/>
          <p:cNvSpPr/>
          <p:nvPr/>
        </p:nvSpPr>
        <p:spPr>
          <a:xfrm>
            <a:off x="3566160" y="40233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0.07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206240" y="4023360"/>
            <a:ext cx="612648" cy="612648"/>
          </a:xfrm>
          <a:prstGeom prst="rect">
            <a:avLst/>
          </a:prstGeom>
          <a:solidFill>
            <a:srgbClr val="FEFDFE"/>
          </a:solidFill>
          <a:ln/>
        </p:spPr>
      </p:sp>
      <p:sp>
        <p:nvSpPr>
          <p:cNvPr id="85" name="Text 83"/>
          <p:cNvSpPr/>
          <p:nvPr/>
        </p:nvSpPr>
        <p:spPr>
          <a:xfrm>
            <a:off x="4206240" y="40233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0.01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846320" y="4023360"/>
            <a:ext cx="612648" cy="61264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87" name="Text 85"/>
          <p:cNvSpPr/>
          <p:nvPr/>
        </p:nvSpPr>
        <p:spPr>
          <a:xfrm>
            <a:off x="4846320" y="4023360"/>
            <a:ext cx="612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1.00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85216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Correlations: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852160" y="132588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852160" y="1325880"/>
            <a:ext cx="64008" cy="86868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91" name="Text 89"/>
          <p:cNvSpPr/>
          <p:nvPr/>
        </p:nvSpPr>
        <p:spPr>
          <a:xfrm>
            <a:off x="5989320" y="13807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Subscribers ↔ Reviews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138160" y="138074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A0DAD"/>
                </a:solidFill>
              </a:rPr>
              <a:t>r = 0.86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598932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Very strong positive link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852160" y="233172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5852160" y="2331720"/>
            <a:ext cx="64008" cy="8686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6" name="Text 94"/>
          <p:cNvSpPr/>
          <p:nvPr/>
        </p:nvSpPr>
        <p:spPr>
          <a:xfrm>
            <a:off x="5989320" y="23865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Lectures ↔ Duration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8138160" y="238658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6CA8"/>
                </a:solidFill>
              </a:rPr>
              <a:t>r = 0.64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Longer courses = more lectures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852160" y="333756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852160" y="3337560"/>
            <a:ext cx="64008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1" name="Text 99"/>
          <p:cNvSpPr/>
          <p:nvPr/>
        </p:nvSpPr>
        <p:spPr>
          <a:xfrm>
            <a:off x="5989320" y="33924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Price ↔ Subscribers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8138160" y="339242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r = 0.01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598932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 meaningful correlation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B6CA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497D6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Insights for Instructors &amp; Platforms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2004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98448"/>
            <a:ext cx="2697480" cy="160020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98448"/>
            <a:ext cx="2697480" cy="411480"/>
          </a:xfrm>
          <a:prstGeom prst="rect">
            <a:avLst/>
          </a:prstGeom>
          <a:solidFill>
            <a:srgbClr val="1B6CA8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</a:t>
            </a:r>
            <a:r>
              <a:rPr lang="en-US" sz="1200" b="1" dirty="0">
                <a:solidFill>
                  <a:srgbClr val="7030A0"/>
                </a:solidFill>
              </a:rPr>
              <a:t>01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High-Demand Subjects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Web Development &amp; Business Finance — they drive the highest engagement and revenue on the platform.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82696" y="1298448"/>
            <a:ext cx="2697480" cy="160020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1298448"/>
            <a:ext cx="2697480" cy="411480"/>
          </a:xfrm>
          <a:prstGeom prst="rect">
            <a:avLst/>
          </a:prstGeom>
          <a:solidFill>
            <a:srgbClr val="1B6CA8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74136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</a:t>
            </a:r>
            <a:r>
              <a:rPr lang="en-US" sz="1200" b="1" dirty="0">
                <a:solidFill>
                  <a:srgbClr val="7030A0"/>
                </a:solidFill>
              </a:rPr>
              <a:t>02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74136" y="17556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Pricing Strategy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74136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free introductory courses to attract learners and paid advanced modules to convert and monetize them.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53912" y="1298448"/>
            <a:ext cx="2697480" cy="160020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53912" y="1298448"/>
            <a:ext cx="2697480" cy="411480"/>
          </a:xfrm>
          <a:prstGeom prst="rect">
            <a:avLst/>
          </a:prstGeom>
          <a:solidFill>
            <a:srgbClr val="1B6CA8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🌱 </a:t>
            </a:r>
            <a:r>
              <a:rPr lang="en-US" sz="1200" b="1" dirty="0">
                <a:solidFill>
                  <a:srgbClr val="7030A0"/>
                </a:solidFill>
              </a:rPr>
              <a:t>03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45352" y="17556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Beginner Content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45352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Beginner-level courses attract the largest audience (32%). Design content that is accessible and welcoming.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1480" y="3081528"/>
            <a:ext cx="2697480" cy="160020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081528"/>
            <a:ext cx="2697480" cy="411480"/>
          </a:xfrm>
          <a:prstGeom prst="rect">
            <a:avLst/>
          </a:prstGeom>
          <a:solidFill>
            <a:srgbClr val="1B6CA8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81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</a:t>
            </a:r>
            <a:r>
              <a:rPr lang="en-US" sz="1200" b="1" dirty="0">
                <a:solidFill>
                  <a:srgbClr val="7030A0"/>
                </a:solidFill>
              </a:rPr>
              <a:t>04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35387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User Reviews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have a strong correlation (r=0.86) with subscribers. Encourage early learners to leave feedback.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82696" y="3081528"/>
            <a:ext cx="2697480" cy="160020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82696" y="3081528"/>
            <a:ext cx="2697480" cy="411480"/>
          </a:xfrm>
          <a:prstGeom prst="rect">
            <a:avLst/>
          </a:prstGeom>
          <a:solidFill>
            <a:srgbClr val="1B6CA8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374136" y="3081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74136" y="35387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Course Structure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374136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lecture count and duration. Longer, well-structured courses correlate with better engagement.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53912" y="3081528"/>
            <a:ext cx="2697480" cy="160020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53912" y="3081528"/>
            <a:ext cx="2697480" cy="411480"/>
          </a:xfrm>
          <a:prstGeom prst="rect">
            <a:avLst/>
          </a:prstGeom>
          <a:solidFill>
            <a:srgbClr val="1B6CA8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45352" y="3081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</a:t>
            </a:r>
            <a:r>
              <a:rPr lang="en-US" sz="1200" b="1" dirty="0">
                <a:solidFill>
                  <a:srgbClr val="7030A0"/>
                </a:solidFill>
              </a:rPr>
              <a:t>06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45352" y="35387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Data-Driven Decisions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45352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year-over-year trends and adjust strategy based on subscriber and pricing publishing performance.</a:t>
            </a:r>
            <a:endParaRPr lang="en-US" sz="9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73152" cy="1417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6A0D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88720" y="91440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EDA highlights key factors driving success on Udemy — including subject demand, pricing strategy, course structure, and user engagement. Paid courses dominate the platform, while beginner-level content attracts the majority of learners. Strong correlations between subscribers and reviews emphasize the importance of quality and feedback. A data-driven approach is essential for optimizing course performance and enhancing learner experience.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 Key Takeaways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88920"/>
            <a:ext cx="8503920" cy="3657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courses dominate (91.6%) the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218688"/>
            <a:ext cx="8503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186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2186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leads in subs &amp;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48456"/>
            <a:ext cx="8503920" cy="3657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484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64845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activity was in 2015–2016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8503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782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782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strongly drive subscriber growth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507992"/>
            <a:ext cx="8503920" cy="3657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07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50799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content attracts the widest audience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6A0DA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B6CA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3200400" y="2240280"/>
            <a:ext cx="274320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4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 Courses EDA Project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A5BC"/>
                </a:solidFill>
              </a:rPr>
              <a:t>Key Topics Covered: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3375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A8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Univariate Analysis  •  Bivariate Analysis</a:t>
            </a:r>
            <a:endParaRPr lang="en-US" sz="11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A8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Trends  •  Correlation Analysis  •  Recommendations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4480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• Pandas • Matplotlib • Seaborn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1075</Words>
  <Application>Microsoft Office PowerPoint</Application>
  <PresentationFormat>On-screen Show (16:9)</PresentationFormat>
  <Paragraphs>288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Udemy EDA Project</dc:title>
  <dc:subject>PptxGenJS Presentation</dc:subject>
  <dc:creator>PptxGenJS</dc:creator>
  <cp:lastModifiedBy>Anurag Bhatia</cp:lastModifiedBy>
  <cp:revision>2</cp:revision>
  <dcterms:created xsi:type="dcterms:W3CDTF">2026-04-21T18:57:36Z</dcterms:created>
  <dcterms:modified xsi:type="dcterms:W3CDTF">2026-04-21T19:17:55Z</dcterms:modified>
</cp:coreProperties>
</file>